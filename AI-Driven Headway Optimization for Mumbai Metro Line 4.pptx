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73" r:id="rId2"/>
    <p:sldId id="257" r:id="rId3"/>
    <p:sldId id="272" r:id="rId4"/>
    <p:sldId id="258" r:id="rId5"/>
    <p:sldId id="259" r:id="rId6"/>
    <p:sldId id="260" r:id="rId7"/>
    <p:sldId id="27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572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40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713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7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3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47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60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70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48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53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738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905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325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883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85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86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8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0E4A3AB-EC0B-4C30-A064-09836A9E02C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5B7C0E-CAD5-45DE-B047-5CE9E561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981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danielmennerich/11024881786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xhere.com/it/photo/272" TargetMode="External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613CC-A502-1A03-A3C8-47D17F0A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9CBB-9CF9-8E8A-59CE-A15F5545D9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AI-Driven Headway Optimization for Mumbai Metro Line 4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FABD3-5B6F-6BF3-B009-4C9F32EB3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AICA-GC Office Wadala, Mumbai</a:t>
            </a:r>
          </a:p>
          <a:p>
            <a:r>
              <a:rPr lang="en-US" i="1" dirty="0"/>
              <a:t>Executed by Amrit Bhardwaj</a:t>
            </a:r>
            <a:br>
              <a:rPr lang="en-US" dirty="0"/>
            </a:br>
            <a:r>
              <a:rPr lang="en-US" i="1" dirty="0"/>
              <a:t>Guided by Mr. Rashmi Ranjan, Senior Signaling Expert</a:t>
            </a:r>
            <a:endParaRPr lang="en-IN" dirty="0"/>
          </a:p>
          <a:p>
            <a:r>
              <a:rPr lang="en-IN" dirty="0"/>
              <a:t>	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CCCC24-1A96-DDFE-E28D-1B39B0F04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519057" cy="1600200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eutsche Bahn - Wikipedia">
            <a:extLst>
              <a:ext uri="{FF2B5EF4-FFF2-40B4-BE49-F238E27FC236}">
                <a16:creationId xmlns:a16="http://schemas.microsoft.com/office/drawing/2014/main" id="{FF96787E-D9D5-8E8C-D976-141979C0E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1608046" cy="837065"/>
          </a:xfrm>
          <a:prstGeom prst="rect">
            <a:avLst/>
          </a:prstGeom>
          <a:noFill/>
          <a:effectLst>
            <a:glow rad="101600">
              <a:srgbClr val="C00000">
                <a:alpha val="6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dian Oil Corporation ...">
            <a:extLst>
              <a:ext uri="{FF2B5EF4-FFF2-40B4-BE49-F238E27FC236}">
                <a16:creationId xmlns:a16="http://schemas.microsoft.com/office/drawing/2014/main" id="{89BAC0DD-396F-5557-F275-8FD68C164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973" y="1600199"/>
            <a:ext cx="1849370" cy="837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Louis Berger Group - Global Careers Fair">
            <a:extLst>
              <a:ext uri="{FF2B5EF4-FFF2-40B4-BE49-F238E27FC236}">
                <a16:creationId xmlns:a16="http://schemas.microsoft.com/office/drawing/2014/main" id="{DF904D87-339A-EDA1-58C0-4B5D87AFF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343" y="1600198"/>
            <a:ext cx="2122713" cy="83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499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1062-8A64-B102-78E9-DC376B05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Background:-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3AE48-E42F-7922-1DBB-492AB97A3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989" y="2293711"/>
            <a:ext cx="8601011" cy="3577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pic>
        <p:nvPicPr>
          <p:cNvPr id="2050" name="Picture 2" descr="MMRDA Unveils 5 Bidders For Mumbai Metro Line-4 Stations' Finishing &amp; PEB  Work - Metro Rail News">
            <a:extLst>
              <a:ext uri="{FF2B5EF4-FFF2-40B4-BE49-F238E27FC236}">
                <a16:creationId xmlns:a16="http://schemas.microsoft.com/office/drawing/2014/main" id="{EB696D22-2435-3C57-CBCF-821465921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029" y="365125"/>
            <a:ext cx="5090950" cy="5638800"/>
          </a:xfrm>
          <a:prstGeom prst="rect">
            <a:avLst/>
          </a:prstGeom>
          <a:noFill/>
          <a:scene3d>
            <a:camera prst="perspectiveContrastingLef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F6B442-A1FB-7734-4728-DE10EEB6E55A}"/>
              </a:ext>
            </a:extLst>
          </p:cNvPr>
          <p:cNvSpPr/>
          <p:nvPr/>
        </p:nvSpPr>
        <p:spPr>
          <a:xfrm>
            <a:off x="685801" y="1680033"/>
            <a:ext cx="6466114" cy="357776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Mumbai metro line 4  will serve as a medium off fast communication between Wadala and kasarvadavali </a:t>
            </a:r>
          </a:p>
          <a:p>
            <a:pPr algn="ctr"/>
            <a:r>
              <a:rPr lang="en-US" dirty="0"/>
              <a:t>It integrates key roads like Eastern Express Highway, LBS Marg, and </a:t>
            </a:r>
            <a:r>
              <a:rPr lang="en-US" dirty="0" err="1"/>
              <a:t>Ghodbunder</a:t>
            </a:r>
            <a:r>
              <a:rPr lang="en-US" dirty="0"/>
              <a:t> Road, with interchanges to Metro Lines 2B, 5, 6, and 10, aiming to reduce travel time by up to 75%</a:t>
            </a:r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Length :32.32 km with four major stations:</a:t>
            </a:r>
          </a:p>
          <a:p>
            <a:pPr algn="ctr"/>
            <a:r>
              <a:rPr lang="en-IN" dirty="0"/>
              <a:t>BHAKTI PARK METRO </a:t>
            </a:r>
            <a:br>
              <a:rPr lang="en-IN" dirty="0"/>
            </a:br>
            <a:r>
              <a:rPr lang="en-IN" dirty="0"/>
              <a:t>CADBUARY</a:t>
            </a:r>
            <a:br>
              <a:rPr lang="en-IN" dirty="0"/>
            </a:br>
            <a:r>
              <a:rPr lang="en-IN" dirty="0"/>
              <a:t>GAIMUKH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9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97F80-23FD-065B-AD11-BBBDDE68F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239486"/>
            <a:ext cx="2558143" cy="2917371"/>
          </a:xfrm>
          <a:prstGeom prst="ellipse">
            <a:avLst/>
          </a:prstGeom>
          <a:effectLst>
            <a:softEdge rad="31750"/>
          </a:effectLst>
        </p:spPr>
      </p:pic>
      <p:sp>
        <p:nvSpPr>
          <p:cNvPr id="8" name="Cloud 7">
            <a:extLst>
              <a:ext uri="{FF2B5EF4-FFF2-40B4-BE49-F238E27FC236}">
                <a16:creationId xmlns:a16="http://schemas.microsoft.com/office/drawing/2014/main" id="{613771AE-6B7B-7571-5EC7-1BF085C16569}"/>
              </a:ext>
            </a:extLst>
          </p:cNvPr>
          <p:cNvSpPr/>
          <p:nvPr/>
        </p:nvSpPr>
        <p:spPr>
          <a:xfrm>
            <a:off x="489857" y="4386942"/>
            <a:ext cx="3211286" cy="1982125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Ever wondered  why are they late sometime ?? </a:t>
            </a:r>
            <a:br>
              <a:rPr lang="en-IN" dirty="0"/>
            </a:br>
            <a:r>
              <a:rPr lang="en-IN" dirty="0"/>
              <a:t>And this is what we are going to see.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19CBA-3353-7113-6A32-501BDA731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022771" y="3344635"/>
            <a:ext cx="4169229" cy="2784947"/>
          </a:xfrm>
          <a:prstGeom prst="homePlate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6E3675-3D32-47E5-7539-6F01DDB0ACFE}"/>
              </a:ext>
            </a:extLst>
          </p:cNvPr>
          <p:cNvSpPr/>
          <p:nvPr/>
        </p:nvSpPr>
        <p:spPr>
          <a:xfrm>
            <a:off x="4604657" y="566058"/>
            <a:ext cx="5747658" cy="211182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Missing your 08:30 morning metro </a:t>
            </a:r>
            <a:br>
              <a:rPr lang="en-IN" dirty="0"/>
            </a:br>
            <a:r>
              <a:rPr lang="en-IN" dirty="0"/>
              <a:t>Wait metro is late by 3 minutes </a:t>
            </a:r>
            <a:br>
              <a:rPr lang="en-IN" dirty="0"/>
            </a:br>
            <a:r>
              <a:rPr lang="en-IN" dirty="0"/>
              <a:t>Missing Ghatkopar Local by 2 minutes </a:t>
            </a:r>
            <a:br>
              <a:rPr lang="en-IN" dirty="0"/>
            </a:br>
            <a:r>
              <a:rPr lang="en-IN" dirty="0"/>
              <a:t>But why ????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26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0668 0.03981 C 0.08086 0.04884 0.10183 0.05347 0.1237 0.05347 C 0.1487 0.05347 0.16862 0.04884 0.18281 0.03981 C 0.20508 0.02639 0.35599 0.60648 0.37852 0.59352 " pathEditMode="relative" rAng="0" ptsTypes="AAAAA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19" y="2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0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0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1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1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1000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1000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FD08-7BF3-F882-52BB-392291AC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Scope &amp; Objective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B1037A-7AC4-C914-C366-C8CD88384A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2368"/>
            <a:ext cx="10515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simulate realistic train movement, station halts, and safe train spacing for the Mumbai Metro Line 4 &amp; 4A corridor, which is currently under construction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headway-compliant movement model based on CBTC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(Communication-Based Train Control) principles.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station-wise timetables, train speed profiles, and visual delay propagation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95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497C-973B-4D1C-4BFA-1B7011F6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D76F-C59B-9DE6-D9B0-AC9EE5C3C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Dynamic Timetable</a:t>
            </a:r>
            <a:r>
              <a:rPr lang="en-US" sz="2400" dirty="0"/>
              <a:t>: Arrival and departure at each station, including delay impact</a:t>
            </a:r>
            <a:br>
              <a:rPr lang="en-US" sz="2400" dirty="0"/>
            </a:br>
            <a:r>
              <a:rPr lang="en-US" sz="2400" b="1" dirty="0"/>
              <a:t>Speed Profile Charts</a:t>
            </a:r>
            <a:r>
              <a:rPr lang="en-US" sz="2400" dirty="0"/>
              <a:t>: Including zones where average speed was increased</a:t>
            </a:r>
            <a:br>
              <a:rPr lang="en-US" sz="2400" dirty="0"/>
            </a:br>
            <a:r>
              <a:rPr lang="en-US" sz="2400" b="1" dirty="0"/>
              <a:t>Delay Heatmaps</a:t>
            </a:r>
            <a:r>
              <a:rPr lang="en-US" sz="2400" dirty="0"/>
              <a:t>: Showing how delays affect later trains</a:t>
            </a:r>
            <a:br>
              <a:rPr lang="en-US" sz="2400" dirty="0"/>
            </a:br>
            <a:r>
              <a:rPr lang="en-US" sz="2400" b="1" dirty="0"/>
              <a:t>Headway Monitoring</a:t>
            </a:r>
            <a:r>
              <a:rPr lang="en-US" sz="2400" dirty="0"/>
              <a:t>: Alerts when spacing drops below 180 seconds 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2276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1E84-AF56-B882-BDC9-0A4F5B1A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"In what ways does dwell time influence train movement and overall metro operations?"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46DA4-93CF-1914-C8B4-ACB30D6C6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Headway</a:t>
            </a:r>
            <a:r>
              <a:rPr lang="en-IN" dirty="0"/>
              <a:t> :</a:t>
            </a:r>
            <a:r>
              <a:rPr lang="en-US" dirty="0"/>
              <a:t>Headway in metro systems refers to the time interval between two consecutive trains traveling in the same direction on the same track</a:t>
            </a:r>
          </a:p>
          <a:p>
            <a:r>
              <a:rPr lang="en-IN" b="1" dirty="0"/>
              <a:t>Dwell time: </a:t>
            </a:r>
            <a:r>
              <a:rPr lang="en-US" dirty="0"/>
              <a:t>Dwell time in metro systems refers to the amount of time a train spends at a station without moving. This period typically includes:</a:t>
            </a:r>
          </a:p>
          <a:p>
            <a:r>
              <a:rPr lang="en-US" dirty="0"/>
              <a:t>Passenger boarding and alighting</a:t>
            </a:r>
          </a:p>
          <a:p>
            <a:r>
              <a:rPr lang="en-US" dirty="0"/>
              <a:t>Door opening and closing</a:t>
            </a:r>
          </a:p>
          <a:p>
            <a:r>
              <a:rPr lang="en-US" dirty="0"/>
              <a:t>Any delays due to crowding or platform congestion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07266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F95DFB-EC19-1E0B-F67E-83A77FB77F5C}"/>
              </a:ext>
            </a:extLst>
          </p:cNvPr>
          <p:cNvSpPr/>
          <p:nvPr/>
        </p:nvSpPr>
        <p:spPr>
          <a:xfrm>
            <a:off x="729342" y="3570514"/>
            <a:ext cx="11299371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34E11C-0322-7678-46EE-47EC9A7AD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80" y="2982686"/>
            <a:ext cx="2340428" cy="741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E4EBE5-FECB-B3BC-83F2-0875B212ABD4}"/>
              </a:ext>
            </a:extLst>
          </p:cNvPr>
          <p:cNvSpPr txBox="1"/>
          <p:nvPr/>
        </p:nvSpPr>
        <p:spPr>
          <a:xfrm>
            <a:off x="9938657" y="3724681"/>
            <a:ext cx="167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Shangrilla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9A370-E8A8-F210-77C8-3F3705B8C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86" y="2960032"/>
            <a:ext cx="2340428" cy="7419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DD5918-BC5A-B829-03F8-67CDE3AC8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458" y="2939143"/>
            <a:ext cx="2340428" cy="7419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42A6D3-FE67-396B-0131-C77F11C7EA18}"/>
              </a:ext>
            </a:extLst>
          </p:cNvPr>
          <p:cNvSpPr txBox="1"/>
          <p:nvPr/>
        </p:nvSpPr>
        <p:spPr>
          <a:xfrm>
            <a:off x="4925786" y="3724681"/>
            <a:ext cx="19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Bhandup Metro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A8804-6E51-DBC1-7BC5-829BEFF573A0}"/>
              </a:ext>
            </a:extLst>
          </p:cNvPr>
          <p:cNvSpPr txBox="1"/>
          <p:nvPr/>
        </p:nvSpPr>
        <p:spPr>
          <a:xfrm>
            <a:off x="1012374" y="3570514"/>
            <a:ext cx="1567540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Naval housing 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B9AEC4B6-E026-3407-0C9B-7C5B5469438D}"/>
              </a:ext>
            </a:extLst>
          </p:cNvPr>
          <p:cNvSpPr/>
          <p:nvPr/>
        </p:nvSpPr>
        <p:spPr>
          <a:xfrm>
            <a:off x="7478486" y="1621971"/>
            <a:ext cx="2862943" cy="1045029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Headway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F134DB-EDDF-BCF9-22E5-2271FD6EA0DB}"/>
              </a:ext>
            </a:extLst>
          </p:cNvPr>
          <p:cNvCxnSpPr/>
          <p:nvPr/>
        </p:nvCxnSpPr>
        <p:spPr>
          <a:xfrm>
            <a:off x="7478486" y="3429000"/>
            <a:ext cx="182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64F7C2F-F9D3-595C-5F59-CF3D4743D2CB}"/>
              </a:ext>
            </a:extLst>
          </p:cNvPr>
          <p:cNvSpPr txBox="1"/>
          <p:nvPr/>
        </p:nvSpPr>
        <p:spPr>
          <a:xfrm>
            <a:off x="7772400" y="3135086"/>
            <a:ext cx="118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Min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A19BCFF-E321-1C67-7679-09BBA32CF6AA}"/>
              </a:ext>
            </a:extLst>
          </p:cNvPr>
          <p:cNvSpPr/>
          <p:nvPr/>
        </p:nvSpPr>
        <p:spPr>
          <a:xfrm>
            <a:off x="5736771" y="1883229"/>
            <a:ext cx="696686" cy="1099457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0CC397-D6CF-9DEA-7BC5-628F938E2348}"/>
              </a:ext>
            </a:extLst>
          </p:cNvPr>
          <p:cNvSpPr/>
          <p:nvPr/>
        </p:nvSpPr>
        <p:spPr>
          <a:xfrm>
            <a:off x="4925786" y="1012371"/>
            <a:ext cx="2340428" cy="7419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Dwell time </a:t>
            </a:r>
          </a:p>
        </p:txBody>
      </p:sp>
    </p:spTree>
    <p:extLst>
      <p:ext uri="{BB962C8B-B14F-4D97-AF65-F5344CB8AC3E}">
        <p14:creationId xmlns:p14="http://schemas.microsoft.com/office/powerpoint/2010/main" val="63427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148 0.00324 L -0.47148 0.00324 C -0.41367 0.02083 -0.39805 0.02893 -0.34023 0.03333 C -0.32578 0.03449 -0.31107 0.03217 -0.29648 0.03171 L -0.25638 0.03495 C -0.25039 0.03565 -0.24453 0.03796 -0.23854 0.03819 L -0.18945 0.03657 L -0.17865 0.03333 C -0.17422 0.03217 -0.16966 0.03148 -0.16523 0.03009 C -0.1599 0.02847 -0.15456 0.02569 -0.14922 0.02384 C -0.12617 0.01528 -0.13268 0.01713 -0.11706 0.01435 C -0.1082 0.01574 -0.09922 0.01875 -0.09023 0.01898 C -0.08021 0.01921 -0.07005 0.01759 -0.0599 0.01574 C -0.05456 0.01481 -0.04935 0.01134 -0.04388 0.01111 C -0.01315 0.00926 0.01745 0.00995 0.04818 0.00949 C 0.04375 0.0081 0.03906 0.00671 0.03477 0.00625 C 0.03021 0.00602 0.02578 0.00625 0.02135 0.00625 " pathEditMode="relative" ptsTypes="AAAAAAAAAAAAAAAAA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D807-614B-9B25-B65D-69F128D8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257"/>
            <a:ext cx="10515600" cy="1429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Relationship Between Dwell Time and Headway in Metro Systems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3C7D0-3014-C9DE-C876-D8340BC71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8943"/>
            <a:ext cx="10131425" cy="5050971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Dwell time and headway are tightly interconnected in metro operations, and changes in one can significantly affect the other. Here's how they relate: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Dwell Time Impacts Headway</a:t>
            </a:r>
          </a:p>
          <a:p>
            <a:r>
              <a:rPr lang="en-US" dirty="0"/>
              <a:t>Longer dwell times at stations mean trains spend more time stopped, which increases the minimum possible headway between trains.</a:t>
            </a:r>
          </a:p>
          <a:p>
            <a:r>
              <a:rPr lang="en-US" dirty="0"/>
              <a:t>Shorter dwell times allow trains to depart sooner, enabling tighter scheduling and higher service frequency.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Operational Consequences</a:t>
            </a:r>
          </a:p>
          <a:p>
            <a:r>
              <a:rPr lang="en-US" dirty="0"/>
              <a:t>If dwell time is inconsistent or unpredictable, it can cause train bunching, delays, and reduced throughput.</a:t>
            </a:r>
          </a:p>
          <a:p>
            <a:r>
              <a:rPr lang="en-US" dirty="0"/>
              <a:t>Optimizing dwell time is essential for maintaining regular headways, especially during peak hours.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40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D9F7-D283-D36F-D32D-04A7C972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4858-0577-F740-2C96-165C59E81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marL="0" indent="0" algn="ctr">
              <a:buNone/>
            </a:pPr>
            <a:r>
              <a:rPr lang="en-IN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Just Being The Manager In This Relationship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668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0E0F-0504-A8EE-5A64-A904EDF7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 and Assumptions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26FC0B-684F-92C2-A676-1A3E5EE39E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2193"/>
            <a:ext cx="10363200" cy="46782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  <a:softEdge rad="12700"/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Station data from DPRs &amp; planning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Civil speed limits applied to each section (35–80 km/h).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OpenCV used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Ghatkopar Station visuals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estimate: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Passenger density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Dwell time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Assumptions: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Dwell time: 30–60 sec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Headway: 180 sec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Terminal turnaround: 180 sec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Interchange buffer: 15–30 sec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5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FA34-5D7C-2162-A855-05542019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Feature Engineering</a:t>
            </a:r>
            <a:b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DD144-5DF4-E431-0212-33F43F5D3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686"/>
            <a:ext cx="10515600" cy="5099277"/>
          </a:xfrm>
        </p:spPr>
        <p:txBody>
          <a:bodyPr>
            <a:normAutofit/>
          </a:bodyPr>
          <a:lstStyle/>
          <a:p>
            <a:r>
              <a:rPr lang="en-IN" dirty="0"/>
              <a:t>Feature extraction task was performed in this duration with the help of Mrs Gabriel ion </a:t>
            </a:r>
          </a:p>
          <a:p>
            <a:endParaRPr lang="en-IN" dirty="0"/>
          </a:p>
          <a:p>
            <a:r>
              <a:rPr lang="en-IN" dirty="0"/>
              <a:t>Built structured dataset:</a:t>
            </a:r>
          </a:p>
          <a:p>
            <a:r>
              <a:rPr lang="en-IN" dirty="0"/>
              <a:t>Station names</a:t>
            </a:r>
          </a:p>
          <a:p>
            <a:r>
              <a:rPr lang="en-IN" dirty="0"/>
              <a:t>Inter-station distances</a:t>
            </a:r>
          </a:p>
          <a:p>
            <a:r>
              <a:rPr lang="en-IN" dirty="0"/>
              <a:t>Speed limits</a:t>
            </a:r>
          </a:p>
          <a:p>
            <a:r>
              <a:rPr lang="en-IN" dirty="0"/>
              <a:t>Dwell time estimates</a:t>
            </a:r>
          </a:p>
          <a:p>
            <a:r>
              <a:rPr lang="en-IN" dirty="0"/>
              <a:t>Terminal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Applied civil speed limits from the tender report</a:t>
            </a:r>
          </a:p>
        </p:txBody>
      </p:sp>
    </p:spTree>
    <p:extLst>
      <p:ext uri="{BB962C8B-B14F-4D97-AF65-F5344CB8AC3E}">
        <p14:creationId xmlns:p14="http://schemas.microsoft.com/office/powerpoint/2010/main" val="3695026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8AB1-191E-E739-FE4F-DA81DEF2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Engine Development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B7D0BD-67B7-978A-6CD0-BD568DE08A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9525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modeled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Position, speed, dwell state, delay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CBTC-style logic: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headway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delay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Station-based halting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ripple handled by occupancy blocking</a:t>
            </a:r>
          </a:p>
        </p:txBody>
      </p:sp>
    </p:spTree>
    <p:extLst>
      <p:ext uri="{BB962C8B-B14F-4D97-AF65-F5344CB8AC3E}">
        <p14:creationId xmlns:p14="http://schemas.microsoft.com/office/powerpoint/2010/main" val="109099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2BEC-DF09-1B02-A7CB-67ED298C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Speed &amp; Headway Control Logic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B77A10-8198-A0CB-BF63-ED5FBF3BF2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5"/>
            <a:ext cx="109074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erage speed: ~35–40 km/h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Increased speed allowed if: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Long gaps ahead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Long block sections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Low platform congestion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Speed reduced when: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Ahead block is occupied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Approaching terminal/station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Headway limit close to violation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549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3C11-9DA2-03A0-7FE7-2B70FE99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C9E99-907D-AB40-D600-6A9D52C99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61" y="1238003"/>
            <a:ext cx="9060582" cy="5625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259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0F5E-2115-AC6F-0EAA-7132609E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711E00-A9FC-F273-94B4-2007A0AFC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873" y="2141538"/>
            <a:ext cx="7633279" cy="3649662"/>
          </a:xfrm>
        </p:spPr>
      </p:pic>
    </p:spTree>
    <p:extLst>
      <p:ext uri="{BB962C8B-B14F-4D97-AF65-F5344CB8AC3E}">
        <p14:creationId xmlns:p14="http://schemas.microsoft.com/office/powerpoint/2010/main" val="61253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FB3AA-F6AA-E6E3-229C-0D16D58A4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630930"/>
            <a:ext cx="11704343" cy="559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9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1871E3E0-4C6D-BC27-F3D8-0B514D026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90550"/>
            <a:ext cx="8447314" cy="56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922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7534-D99C-C87D-CA4D-EECA0B57B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47569-E542-41E9-BAED-B5E71C82A9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92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1130</TotalTime>
  <Words>668</Words>
  <Application>Microsoft Office PowerPoint</Application>
  <PresentationFormat>Widescreen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Celestial</vt:lpstr>
      <vt:lpstr>AI-Driven Headway Optimization for Mumbai Metro Line 4</vt:lpstr>
      <vt:lpstr>Background:-</vt:lpstr>
      <vt:lpstr>PowerPoint Presentation</vt:lpstr>
      <vt:lpstr> Project Scope &amp; Objective</vt:lpstr>
      <vt:lpstr>Expected outcomes </vt:lpstr>
      <vt:lpstr>"In what ways does dwell time influence train movement and overall metro operations?"</vt:lpstr>
      <vt:lpstr>PowerPoint Presentation</vt:lpstr>
      <vt:lpstr>Relationship Between Dwell Time and Headway in Metro Systems </vt:lpstr>
      <vt:lpstr>Target </vt:lpstr>
      <vt:lpstr>Data collection and Assumptions</vt:lpstr>
      <vt:lpstr> Feature Engineering </vt:lpstr>
      <vt:lpstr>Simulation Engine Development</vt:lpstr>
      <vt:lpstr>Speed &amp; Headway Control Logic</vt:lpstr>
      <vt:lpstr>Results: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 bhardwaj</dc:creator>
  <cp:lastModifiedBy>amrit bhardwaj</cp:lastModifiedBy>
  <cp:revision>2</cp:revision>
  <dcterms:created xsi:type="dcterms:W3CDTF">2025-07-25T04:28:05Z</dcterms:created>
  <dcterms:modified xsi:type="dcterms:W3CDTF">2025-08-11T07:00:51Z</dcterms:modified>
</cp:coreProperties>
</file>